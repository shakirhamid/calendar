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4B"/>
                </a:solidFill>
              </a:rPr>
              <a:t>Calendar App Code Explainer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576B"/>
                </a:solidFill>
              </a:rPr>
              <a:t>Full-app walkthrough: file map, important code paths, key lines, and the fastest reading order.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24B"/>
                </a:solidFill>
              </a:rPr>
              <a:t>Big picture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55648"/>
            <a:ext cx="5303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3548"/>
                </a:solidFill>
              </a:rPr>
              <a:t>This is a Next.js calendar app. The UI lives in React components, data is fetched through API routes, and the current backend stores events in a local JSON file.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0" y="1554480"/>
            <a:ext cx="2194560" cy="1417320"/>
          </a:xfrm>
          <a:prstGeom prst="roundRect">
            <a:avLst>
              <a:gd name="adj" fmla="val 3871"/>
            </a:avLst>
          </a:prstGeom>
          <a:solidFill>
            <a:srgbClr val="FFF5D8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0528" y="1645920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Core idea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10528" y="1920240"/>
            <a:ext cx="19751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User clicks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CalendarApp handles state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API saves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Views re-render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778240" y="1554480"/>
            <a:ext cx="2377440" cy="1417320"/>
          </a:xfrm>
          <a:prstGeom prst="roundRect">
            <a:avLst>
              <a:gd name="adj" fmla="val 3871"/>
            </a:avLst>
          </a:prstGeom>
          <a:solidFill>
            <a:srgbClr val="EAF4F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87968" y="1645920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Main words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87968" y="1920240"/>
            <a:ext cx="21579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route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state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props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fetch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JSON store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task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copy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notification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3337560"/>
            <a:ext cx="4754880" cy="1600200"/>
          </a:xfrm>
          <a:prstGeom prst="roundRect">
            <a:avLst>
              <a:gd name="adj" fmla="val 3429"/>
            </a:avLst>
          </a:prstGeom>
          <a:solidFill>
            <a:srgbClr val="EAF8E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3429000"/>
            <a:ext cx="4535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Current behavior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10528" y="3703320"/>
            <a:ext cx="45354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New items now default to tasks.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/agenda is a valid route alias.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The app uses week, month, day, and tasks views.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6236208"/>
            <a:ext cx="11064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Start here if you want the quick mental model.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4B"/>
                </a:solidFill>
              </a:rPr>
              <a:t>1. Folder 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576B"/>
                </a:solidFill>
              </a:rPr>
              <a:t>Every app file grouped by role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394960" cy="2240280"/>
          </a:xfrm>
          <a:prstGeom prst="roundRect">
            <a:avLst>
              <a:gd name="adj" fmla="val 2449"/>
            </a:avLst>
          </a:prstGeom>
          <a:solidFill>
            <a:srgbClr val="EAF4F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234440"/>
            <a:ext cx="5175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Routes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508760"/>
            <a:ext cx="51755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3548"/>
                </a:solidFill>
              </a:rPr>
              <a:t>pages/index.tsx - home route, opens week view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23548"/>
                </a:solidFill>
              </a:rPr>
              <a:t>pages/week.tsx - explicit week route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23548"/>
                </a:solidFill>
              </a:rPr>
              <a:t>pages/month.tsx - month route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23548"/>
                </a:solidFill>
              </a:rPr>
              <a:t>pages/day.tsx - day route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23548"/>
                </a:solidFill>
              </a:rPr>
              <a:t>pages/tasks.tsx - task list route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23548"/>
                </a:solidFill>
              </a:rPr>
              <a:t>pages/agenda.tsx - alias route that points to the main calendar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23548"/>
                </a:solidFill>
              </a:rPr>
              <a:t>pages/_app.tsx - MUI theme and global wrappers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23548"/>
                </a:solidFill>
              </a:rPr>
              <a:t>pages/_document.tsx - HTML shell and Google font link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6080760" y="1143000"/>
            <a:ext cx="5212080" cy="1600200"/>
          </a:xfrm>
          <a:prstGeom prst="roundRect">
            <a:avLst>
              <a:gd name="adj" fmla="val 3429"/>
            </a:avLst>
          </a:prstGeom>
          <a:solidFill>
            <a:srgbClr val="FFF5D8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90488" y="1234440"/>
            <a:ext cx="4992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90488" y="1508760"/>
            <a:ext cx="49926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23548"/>
                </a:solidFill>
              </a:rPr>
              <a:t>pages/api/events.ts - list, create, clear events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23548"/>
                </a:solidFill>
              </a:rPr>
              <a:t>pages/api/events/[id].ts - get, update, delete one event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23548"/>
                </a:solidFill>
              </a:rPr>
              <a:t>pages/api/notifications.ts - placeholder notification API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23548"/>
                </a:solidFill>
              </a:rPr>
              <a:t>pages/api/events-store.ts - seed data type and sample items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EAF8E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703320"/>
            <a:ext cx="5175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UI Components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3977640"/>
            <a:ext cx="51755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23548"/>
                </a:solidFill>
              </a:rPr>
              <a:t>components/CalendarApp.tsx - main controller and state owner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223548"/>
                </a:solidFill>
              </a:rPr>
              <a:t>components/Sidebar.tsx - mini month calendar and pinned tasks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223548"/>
                </a:solidFill>
              </a:rPr>
              <a:t>components/WeekView.tsx - 7-day by 24-hour board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223548"/>
                </a:solidFill>
              </a:rPr>
              <a:t>components/DayView.tsx - single day timeline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223548"/>
                </a:solidFill>
              </a:rPr>
              <a:t>components/CalendarGrid.tsx - month grid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223548"/>
                </a:solidFill>
              </a:rPr>
              <a:t>components/TasksView.tsx - thin wrapper around AgendaView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223548"/>
                </a:solidFill>
              </a:rPr>
              <a:t>components/AgendaView.tsx - sorted daily list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223548"/>
                </a:solidFill>
              </a:rPr>
              <a:t>components/EventDialog.tsx - create and edit form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223548"/>
                </a:solidFill>
              </a:rPr>
              <a:t>components/NotificationCenter.tsx - reminder checks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223548"/>
                </a:solidFill>
              </a:rPr>
              <a:t>components/CalendarHeader.tsx - weekday row for month view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080760" y="2926080"/>
            <a:ext cx="5212080" cy="2834640"/>
          </a:xfrm>
          <a:prstGeom prst="roundRect">
            <a:avLst>
              <a:gd name="adj" fmla="val 1935"/>
            </a:avLst>
          </a:prstGeom>
          <a:solidFill>
            <a:srgbClr val="FCEBF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0488" y="3017520"/>
            <a:ext cx="4992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Data + Config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90488" y="3291840"/>
            <a:ext cx="49926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223548"/>
                </a:solidFill>
              </a:rPr>
              <a:t>lib/server/event-store.ts - JSON persistence and serialized writes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23548"/>
                </a:solidFill>
              </a:rPr>
              <a:t>data/events.json - real saved app data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23548"/>
                </a:solidFill>
              </a:rPr>
              <a:t>styles/globals.css - base CSS and scrollbar styling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23548"/>
                </a:solidFill>
              </a:rPr>
              <a:t>next.config.js - Next.js config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23548"/>
                </a:solidFill>
              </a:rPr>
              <a:t>lib/db/mongodb.ts - optional MongoDB connector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23548"/>
                </a:solidFill>
              </a:rPr>
              <a:t>lib/models/Event.ts - optional Mongoose schema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23548"/>
                </a:solidFill>
              </a:rPr>
              <a:t>lib/firebase.ts - Firebase messaging setup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23548"/>
                </a:solidFill>
              </a:rPr>
              <a:t>prisma/schema.prisma - future PostgreSQL schema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23548"/>
                </a:solidFill>
              </a:rPr>
              <a:t>scripts/clean-next-cache.js - dev startup cache cleanup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23548"/>
                </a:solidFill>
              </a:rPr>
              <a:t>scripts/generate_code_explainer_ppt.js - this explainer generator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11480" y="6236208"/>
            <a:ext cx="11064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This slide is the file inventory. The next slides explain what matters most.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4B"/>
                </a:solidFill>
              </a:rPr>
              <a:t>2. App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576B"/>
                </a:solidFill>
              </a:rPr>
              <a:t>How data moves from click to saved task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B"/>
                </a:solidFill>
              </a:rPr>
              <a:t>User action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2148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Create, edit, drag, copy, delete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68880" y="2176272"/>
            <a:ext cx="640080" cy="310896"/>
          </a:xfrm>
          <a:prstGeom prst="chevron">
            <a:avLst/>
          </a:prstGeom>
          <a:solidFill>
            <a:srgbClr val="7FA9E6"/>
          </a:solidFill>
          <a:ln w="12700">
            <a:solidFill>
              <a:srgbClr val="7FA9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828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B"/>
                </a:solidFill>
              </a:rPr>
              <a:t>CalendarApp.tsx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17520" y="2148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Owns state and calls fetch()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23560" y="2176272"/>
            <a:ext cx="640080" cy="310896"/>
          </a:xfrm>
          <a:prstGeom prst="chevron">
            <a:avLst/>
          </a:prstGeom>
          <a:solidFill>
            <a:srgbClr val="7FA9E6"/>
          </a:solidFill>
          <a:ln w="12700">
            <a:solidFill>
              <a:srgbClr val="7FA9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8288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B"/>
                </a:solidFill>
              </a:rPr>
              <a:t>API routes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26480" y="2148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/api/events and /api/events/[id]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66760" y="2176272"/>
            <a:ext cx="640080" cy="310896"/>
          </a:xfrm>
          <a:prstGeom prst="chevron">
            <a:avLst/>
          </a:prstGeom>
          <a:solidFill>
            <a:srgbClr val="7FA9E6"/>
          </a:solidFill>
          <a:ln w="12700">
            <a:solidFill>
              <a:srgbClr val="7FA9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0" y="1828800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324B"/>
                </a:solidFill>
              </a:rPr>
              <a:t>Store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732520" y="210312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lib/server/event-store.ts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and data/events.json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840480"/>
            <a:ext cx="9784080" cy="1417320"/>
          </a:xfrm>
          <a:prstGeom prst="roundRect">
            <a:avLst>
              <a:gd name="adj" fmla="val 3871"/>
            </a:avLst>
          </a:prstGeom>
          <a:solidFill>
            <a:srgbClr val="EAF4F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931920"/>
            <a:ext cx="9564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Important summary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4206240"/>
            <a:ext cx="9564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548"/>
                </a:solidFill>
              </a:rPr>
              <a:t>CalendarApp is the brain.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548"/>
                </a:solidFill>
              </a:rPr>
              <a:t>API routes are a thin wrapper.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548"/>
                </a:solidFill>
              </a:rPr>
              <a:t>event-store.ts is the real persistence layer.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548"/>
                </a:solidFill>
              </a:rPr>
              <a:t>Views only render what CalendarApp passes down.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6236208"/>
            <a:ext cx="11064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If you can follow this chain, you can understand most of the repo.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4B"/>
                </a:solidFill>
              </a:rPr>
              <a:t>3. Most Important File: CalendarApp.tsx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576B"/>
                </a:solidFill>
              </a:rPr>
              <a:t>Main controller and state owner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5989320" cy="4983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223548"/>
                </a:solidFill>
              </a:rPr>
              <a:t>Line 56: getRouteForView maps a view name to the route path.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223548"/>
                </a:solidFill>
              </a:rPr>
              <a:t>Lines 65-78: local state stores current date, events, search text, dialog state, and highlighted event.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223548"/>
                </a:solidFill>
              </a:rPr>
              <a:t>Lines 81-105: useEffect watches router query taskId and jumps to that task date.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223548"/>
                </a:solidFill>
              </a:rPr>
              <a:t>Lines 107-118: startup effect loads events and notification status.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223548"/>
                </a:solidFill>
              </a:rPr>
              <a:t>Lines 201-246: handleSaveEvent creates or updates an item through the API.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223548"/>
                </a:solidFill>
              </a:rPr>
              <a:t>Lines 248-274: handleMoveEvent supports drag-and-drop rescheduling.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223548"/>
                </a:solidFill>
              </a:rPr>
              <a:t>Lines 276-301: handleCopyEvent clones a task to a new date.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223548"/>
                </a:solidFill>
              </a:rPr>
              <a:t>Lines 317-323: filteredEvents applies the search box before rendering.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223548"/>
                </a:solidFill>
              </a:rPr>
              <a:t>Lines 330-606: renders the app shell, header, sidebar, selected view, dialog, and notifications.</a:t>
            </a:r>
            <a:endParaRPr lang="en-US" sz="1420" dirty="0"/>
          </a:p>
        </p:txBody>
      </p:sp>
      <p:sp>
        <p:nvSpPr>
          <p:cNvPr id="5" name="Shape 3"/>
          <p:cNvSpPr/>
          <p:nvPr/>
        </p:nvSpPr>
        <p:spPr>
          <a:xfrm>
            <a:off x="6812280" y="1417320"/>
            <a:ext cx="4160520" cy="1417320"/>
          </a:xfrm>
          <a:prstGeom prst="roundRect">
            <a:avLst>
              <a:gd name="adj" fmla="val 3871"/>
            </a:avLst>
          </a:prstGeom>
          <a:solidFill>
            <a:srgbClr val="FFF5D8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2008" y="1508760"/>
            <a:ext cx="3941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2008" y="1783080"/>
            <a:ext cx="3941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548"/>
                </a:solidFill>
              </a:rPr>
              <a:t>If something is wrong in the app, start here first.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548"/>
                </a:solidFill>
              </a:rPr>
              <a:t>This file decides what data exists in memory.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548"/>
                </a:solidFill>
              </a:rPr>
              <a:t>It also decides which child view gets shown.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12280" y="3063240"/>
            <a:ext cx="1965960" cy="1828800"/>
          </a:xfrm>
          <a:prstGeom prst="roundRect">
            <a:avLst>
              <a:gd name="adj" fmla="val 3000"/>
            </a:avLst>
          </a:prstGeom>
          <a:solidFill>
            <a:srgbClr val="EAF4F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22008" y="3154680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Key functions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2008" y="3429000"/>
            <a:ext cx="17465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fetchEvents()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handleSaveEvent()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handleDeleteEvent()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handleMoveEvent()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handleCopyEvent()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navigateToView()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006840" y="3063240"/>
            <a:ext cx="1965960" cy="1828800"/>
          </a:xfrm>
          <a:prstGeom prst="roundRect">
            <a:avLst>
              <a:gd name="adj" fmla="val 3000"/>
            </a:avLst>
          </a:prstGeom>
          <a:solidFill>
            <a:srgbClr val="EAF8E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16568" y="3154680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State variables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16568" y="3429000"/>
            <a:ext cx="17465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currentDate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events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searchQuery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openEventDialog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editEvent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highlightEventId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6236208"/>
            <a:ext cx="11064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Reading tip: follow one user action and find where CalendarApp updates state.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4B"/>
                </a:solidFill>
              </a:rPr>
              <a:t>4. View Components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576B"/>
                </a:solidFill>
              </a:rPr>
              <a:t>How each screen presents the same data differently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474720" cy="2148840"/>
          </a:xfrm>
          <a:prstGeom prst="roundRect">
            <a:avLst>
              <a:gd name="adj" fmla="val 2553"/>
            </a:avLst>
          </a:prstGeom>
          <a:solidFill>
            <a:srgbClr val="EAF4F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325880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WeekView.tsx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1600200"/>
            <a:ext cx="32552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23548"/>
                </a:solidFill>
              </a:rPr>
              <a:t>Lines 38-46 define the 24-hour labels.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23548"/>
                </a:solidFill>
              </a:rPr>
              <a:t>Line 57 builds the seven dates in the active week.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23548"/>
                </a:solidFill>
              </a:rPr>
              <a:t>Line 59 getEventsForTimeSlot filters events into one cell.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23548"/>
                </a:solidFill>
              </a:rPr>
              <a:t>Lines 156-216 render each hourly slot and allow drag-drop moves.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23548"/>
                </a:solidFill>
              </a:rPr>
              <a:t>highlightEventId adds a yellow border to the copied or selected task.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160520" y="1234440"/>
            <a:ext cx="3474720" cy="2148840"/>
          </a:xfrm>
          <a:prstGeom prst="roundRect">
            <a:avLst>
              <a:gd name="adj" fmla="val 2553"/>
            </a:avLst>
          </a:prstGeom>
          <a:solidFill>
            <a:srgbClr val="EAF8E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70248" y="1325880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DayView.tsx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70248" y="1600200"/>
            <a:ext cx="32552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23548"/>
                </a:solidFill>
              </a:rPr>
              <a:t>Line 49 builds dayEvents by filtering to one date.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23548"/>
                </a:solidFill>
              </a:rPr>
              <a:t>Line 89 groups visible cards by hour.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23548"/>
                </a:solidFill>
              </a:rPr>
              <a:t>Line 82 adds the quick "+ Add Event" button.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23548"/>
                </a:solidFill>
              </a:rPr>
              <a:t>Lines 135-178 let you drop an item into a new hour.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23548"/>
                </a:solidFill>
              </a:rPr>
              <a:t>It is the easier file to learn before WeekView.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7818120" y="1234440"/>
            <a:ext cx="2971800" cy="2148840"/>
          </a:xfrm>
          <a:prstGeom prst="roundRect">
            <a:avLst>
              <a:gd name="adj" fmla="val 2553"/>
            </a:avLst>
          </a:prstGeom>
          <a:solidFill>
            <a:srgbClr val="FFF5D8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27848" y="1325880"/>
            <a:ext cx="2752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CalendarGrid.tsx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27848" y="1600200"/>
            <a:ext cx="27523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23548"/>
                </a:solidFill>
              </a:rPr>
              <a:t>Line 40 getEventsForDate filters month cells.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23548"/>
                </a:solidFill>
              </a:rPr>
              <a:t>Line 58 computes dayEvents for each square.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23548"/>
                </a:solidFill>
              </a:rPr>
              <a:t>Lines 100-120 show up to two chips and a "+more" label.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23548"/>
                </a:solidFill>
              </a:rPr>
              <a:t>This is the month view renderer.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502920" y="3703320"/>
            <a:ext cx="4754880" cy="1554480"/>
          </a:xfrm>
          <a:prstGeom prst="roundRect">
            <a:avLst>
              <a:gd name="adj" fmla="val 3529"/>
            </a:avLst>
          </a:prstGeom>
          <a:solidFill>
            <a:srgbClr val="FCEBF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3794760"/>
            <a:ext cx="4535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TasksView.tsx + AgendaView.tsx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" y="4069080"/>
            <a:ext cx="4535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23548"/>
                </a:solidFill>
              </a:rPr>
              <a:t>TasksView is a wrapper only.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3548"/>
                </a:solidFill>
              </a:rPr>
              <a:t>AgendaView does the real work.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3548"/>
                </a:solidFill>
              </a:rPr>
              <a:t>Line 36 filters items for the selected day.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3548"/>
                </a:solidFill>
              </a:rPr>
              <a:t>Line 38 sorts them by date and time.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3548"/>
                </a:solidFill>
              </a:rPr>
              <a:t>Lines 81-84 show a chip: Task or Event.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5532120" y="3703320"/>
            <a:ext cx="5257800" cy="1554480"/>
          </a:xfrm>
          <a:prstGeom prst="roundRect">
            <a:avLst>
              <a:gd name="adj" fmla="val 3529"/>
            </a:avLst>
          </a:prstGeom>
          <a:solidFill>
            <a:srgbClr val="EAF4F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41848" y="3794760"/>
            <a:ext cx="5038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Route files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41848" y="4069080"/>
            <a:ext cx="5038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23548"/>
                </a:solidFill>
              </a:rPr>
              <a:t>index.tsx, week.tsx, month.tsx, day.tsx, tasks.tsx, and agenda.tsx are small wrappers.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3548"/>
                </a:solidFill>
              </a:rPr>
              <a:t>They only choose an initialView and mount CalendarApp.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411480" y="6236208"/>
            <a:ext cx="11064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The same event list can become a week grid, day list, month grid, or task list.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4B"/>
                </a:solidFill>
              </a:rPr>
              <a:t>5. Sidebar, Dialog, and Notifications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576B"/>
                </a:solidFill>
              </a:rPr>
              <a:t>Support files that shape the user experience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5897880" cy="4800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223548"/>
                </a:solidFill>
              </a:rPr>
              <a:t>Sidebar.tsx line 62 uses useMemo to build a sorted task list once per change.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223548"/>
                </a:solidFill>
              </a:rPr>
              <a:t>Sidebar.tsx line 70 splits tasks into selected day items and other tasks.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223548"/>
                </a:solidFill>
              </a:rPr>
              <a:t>Sidebar.tsx lines 223-232 accept drops on calendar days and ask CalendarApp to copy a task.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223548"/>
                </a:solidFill>
              </a:rPr>
              <a:t>EventDialog.tsx line 39 defaults isTask to true, so new items become tasks automatically.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223548"/>
                </a:solidFill>
              </a:rPr>
              <a:t>EventDialog.tsx line 72 builds the payload and sends it back to CalendarApp.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223548"/>
                </a:solidFill>
              </a:rPr>
              <a:t>NotificationCenter.tsx line 27 checks due events every 15 seconds.</a:t>
            </a:r>
            <a:endParaRPr lang="en-US" sz="1420" dirty="0"/>
          </a:p>
          <a:p>
            <a:pPr marL="177800" indent="-177800">
              <a:buSzPct val="100000"/>
              <a:buChar char="•"/>
            </a:pPr>
            <a:r>
              <a:rPr lang="en-US" sz="1420" dirty="0">
                <a:solidFill>
                  <a:srgbClr val="223548"/>
                </a:solidFill>
              </a:rPr>
              <a:t>NotificationCenter.tsx lines 55-59 use the browser Notification API when permission exists.</a:t>
            </a:r>
            <a:endParaRPr lang="en-US" sz="1420" dirty="0"/>
          </a:p>
        </p:txBody>
      </p:sp>
      <p:sp>
        <p:nvSpPr>
          <p:cNvPr id="5" name="Shape 3"/>
          <p:cNvSpPr/>
          <p:nvPr/>
        </p:nvSpPr>
        <p:spPr>
          <a:xfrm>
            <a:off x="6720840" y="1417320"/>
            <a:ext cx="4160520" cy="1417320"/>
          </a:xfrm>
          <a:prstGeom prst="roundRect">
            <a:avLst>
              <a:gd name="adj" fmla="val 3871"/>
            </a:avLst>
          </a:prstGeom>
          <a:solidFill>
            <a:srgbClr val="FFF5D8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30568" y="1508760"/>
            <a:ext cx="3941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Sidebar mental 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30568" y="1783080"/>
            <a:ext cx="3941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548"/>
                </a:solidFill>
              </a:rPr>
              <a:t>Mini month calendar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548"/>
                </a:solidFill>
              </a:rPr>
              <a:t>Pinned tasks for selected day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548"/>
                </a:solidFill>
              </a:rPr>
              <a:t>Other tasks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548"/>
                </a:solidFill>
              </a:rPr>
              <a:t>Copy by button or drag-drop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20840" y="3063240"/>
            <a:ext cx="4160520" cy="1417320"/>
          </a:xfrm>
          <a:prstGeom prst="roundRect">
            <a:avLst>
              <a:gd name="adj" fmla="val 3871"/>
            </a:avLst>
          </a:prstGeom>
          <a:solidFill>
            <a:srgbClr val="EAF8E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30568" y="3154680"/>
            <a:ext cx="3941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Dialog mental 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30568" y="3429000"/>
            <a:ext cx="39410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548"/>
                </a:solidFill>
              </a:rPr>
              <a:t>Load current item when editing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548"/>
                </a:solidFill>
              </a:rPr>
              <a:t>Pre-fill hour when creating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548"/>
                </a:solidFill>
              </a:rPr>
              <a:t>Save title, time, color, description, notification flag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6236208"/>
            <a:ext cx="11064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These files do not own global data, but they define most of the behavior users feel.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4B"/>
                </a:solidFill>
              </a:rPr>
              <a:t>6. API and Storage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576B"/>
                </a:solidFill>
              </a:rPr>
              <a:t>Where saving really happens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EAF4F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325880"/>
            <a:ext cx="3300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pages/api/events.ts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1600200"/>
            <a:ext cx="3300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23548"/>
                </a:solidFill>
              </a:rPr>
              <a:t>Lines 5-11 set permissive CORS headers.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3548"/>
                </a:solidFill>
              </a:rPr>
              <a:t>Lines 18-22 return all events.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3548"/>
                </a:solidFill>
              </a:rPr>
              <a:t>Lines 24-37 create a new item through createEvent().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3548"/>
                </a:solidFill>
              </a:rPr>
              <a:t>Lines 40-43 clear all items.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4206240" y="1234440"/>
            <a:ext cx="3246120" cy="1828800"/>
          </a:xfrm>
          <a:prstGeom prst="roundRect">
            <a:avLst>
              <a:gd name="adj" fmla="val 3000"/>
            </a:avLst>
          </a:prstGeom>
          <a:solidFill>
            <a:srgbClr val="FFF5D8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15968" y="1325880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pages/api/events/[id].ts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15968" y="1600200"/>
            <a:ext cx="3026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23548"/>
                </a:solidFill>
              </a:rPr>
              <a:t>Reads the id from the URL.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3548"/>
                </a:solidFill>
              </a:rPr>
              <a:t>GET returns one event.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3548"/>
                </a:solidFill>
              </a:rPr>
              <a:t>PUT updates one event.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3548"/>
                </a:solidFill>
              </a:rPr>
              <a:t>DELETE removes one event.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7635240" y="1234440"/>
            <a:ext cx="3246120" cy="1828800"/>
          </a:xfrm>
          <a:prstGeom prst="roundRect">
            <a:avLst>
              <a:gd name="adj" fmla="val 3000"/>
            </a:avLst>
          </a:prstGeom>
          <a:solidFill>
            <a:srgbClr val="EAF8E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44968" y="1325880"/>
            <a:ext cx="3026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lib/server/event-store.ts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44968" y="1600200"/>
            <a:ext cx="3026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223548"/>
                </a:solidFill>
              </a:rPr>
              <a:t>ensureStore() creates the data folder and seed file.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223548"/>
                </a:solidFill>
              </a:rPr>
              <a:t>readEvents() loads JSON safely.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223548"/>
                </a:solidFill>
              </a:rPr>
              <a:t>createEvent() assigns randomUUID() ids.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223548"/>
                </a:solidFill>
              </a:rPr>
              <a:t>isTask defaults to true when omitted.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223548"/>
                </a:solidFill>
              </a:rPr>
              <a:t>runSerializedMutation() prevents fast writes from clobbering each other.</a:t>
            </a:r>
            <a:endParaRPr lang="en-US" sz="1010" dirty="0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1005840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440" dirty="0">
                <a:solidFill>
                  <a:srgbClr val="223548"/>
                </a:solidFill>
              </a:rPr>
              <a:t>The real database today is data/events.json, not MongoDB or Prisma.</a:t>
            </a:r>
            <a:endParaRPr lang="en-US" sz="1440" dirty="0"/>
          </a:p>
          <a:p>
            <a:pPr marL="177800" indent="-177800">
              <a:buSzPct val="100000"/>
              <a:buChar char="•"/>
            </a:pPr>
            <a:r>
              <a:rPr lang="en-US" sz="1440" dirty="0">
                <a:solidFill>
                  <a:srgbClr val="223548"/>
                </a:solidFill>
              </a:rPr>
              <a:t>pages/api/events-store.ts only defines the CalendarEvent type and starter seed data.</a:t>
            </a:r>
            <a:endParaRPr lang="en-US" sz="1440" dirty="0"/>
          </a:p>
          <a:p>
            <a:pPr marL="177800" indent="-177800">
              <a:buSzPct val="100000"/>
              <a:buChar char="•"/>
            </a:pPr>
            <a:r>
              <a:rPr lang="en-US" sz="1440" dirty="0">
                <a:solidFill>
                  <a:srgbClr val="223548"/>
                </a:solidFill>
              </a:rPr>
              <a:t>pages/api/notifications.ts is a placeholder endpoint. It logs or returns empty data, but it is not wired into real push delivery yet.</a:t>
            </a:r>
            <a:endParaRPr lang="en-US" sz="1440" dirty="0"/>
          </a:p>
          <a:p>
            <a:pPr marL="177800" indent="-177800">
              <a:buSzPct val="100000"/>
              <a:buChar char="•"/>
            </a:pPr>
            <a:r>
              <a:rPr lang="en-US" sz="1440" dirty="0">
                <a:solidFill>
                  <a:srgbClr val="223548"/>
                </a:solidFill>
              </a:rPr>
              <a:t>Because the backend is file-based, this project is easy to run locally and easy to understand.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411480" y="6236208"/>
            <a:ext cx="11064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Important distinction: there is app scaffolding for databases, but the active save path is JSON.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4B"/>
                </a:solidFill>
              </a:rPr>
              <a:t>7. Config and Future Scaffolding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576B"/>
                </a:solidFill>
              </a:rPr>
              <a:t>Files that are useful, but not the main runtime path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383280" cy="1554480"/>
          </a:xfrm>
          <a:prstGeom prst="roundRect">
            <a:avLst>
              <a:gd name="adj" fmla="val 3529"/>
            </a:avLst>
          </a:prstGeom>
          <a:solidFill>
            <a:srgbClr val="EAF4F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325880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pages/_app.tsx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1600200"/>
            <a:ext cx="3163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Adds the page title and viewport meta tag.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Creates the MUI theme.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Wraps every page with ThemeProvider and CssBaseline.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069080" y="1234440"/>
            <a:ext cx="2926080" cy="1554480"/>
          </a:xfrm>
          <a:prstGeom prst="roundRect">
            <a:avLst>
              <a:gd name="adj" fmla="val 3529"/>
            </a:avLst>
          </a:prstGeom>
          <a:solidFill>
            <a:srgbClr val="FFF5D8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78808" y="1325880"/>
            <a:ext cx="2706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pages/_document.tsx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78808" y="1600200"/>
            <a:ext cx="27066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Custom HTML shell.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Preconnects to Google Fonts.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Loads Roboto for the app.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78040" y="1234440"/>
            <a:ext cx="3657600" cy="1554480"/>
          </a:xfrm>
          <a:prstGeom prst="roundRect">
            <a:avLst>
              <a:gd name="adj" fmla="val 3529"/>
            </a:avLst>
          </a:prstGeom>
          <a:solidFill>
            <a:srgbClr val="EAF8E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87768" y="1325880"/>
            <a:ext cx="3438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styles/globals.css + next.config.js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87768" y="1600200"/>
            <a:ext cx="3438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Global reset, scrollbar styles, and mobile font sizing.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React strict mode, SWC minify, unoptimized images.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154680"/>
            <a:ext cx="5532120" cy="1920240"/>
          </a:xfrm>
          <a:prstGeom prst="roundRect">
            <a:avLst>
              <a:gd name="adj" fmla="val 2857"/>
            </a:avLst>
          </a:prstGeom>
          <a:solidFill>
            <a:srgbClr val="FCEBF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3246120"/>
            <a:ext cx="5312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MongoDB + Prisma + Firebase files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" y="3520440"/>
            <a:ext cx="5312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23548"/>
                </a:solidFill>
              </a:rPr>
              <a:t>lib/db/mongodb.ts can connect to MongoDB.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3548"/>
                </a:solidFill>
              </a:rPr>
              <a:t>lib/models/Event.ts defines a richer Mongoose model.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3548"/>
                </a:solidFill>
              </a:rPr>
              <a:t>prisma/schema.prisma defines PostgreSQL tables for a future backend.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23548"/>
                </a:solidFill>
              </a:rPr>
              <a:t>lib/firebase.ts sets up Firebase messaging helpers.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6263640" y="3154680"/>
            <a:ext cx="4572000" cy="1920240"/>
          </a:xfrm>
          <a:prstGeom prst="roundRect">
            <a:avLst>
              <a:gd name="adj" fmla="val 2857"/>
            </a:avLst>
          </a:prstGeom>
          <a:solidFill>
            <a:srgbClr val="EAF4F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3246120"/>
            <a:ext cx="4352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What to understand here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73368" y="3520440"/>
            <a:ext cx="43525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23548"/>
                </a:solidFill>
              </a:rPr>
              <a:t>These files show where the app may grow next.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23548"/>
                </a:solidFill>
              </a:rPr>
              <a:t>They are not the first place to debug a current create or edit issue.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23548"/>
                </a:solidFill>
              </a:rPr>
              <a:t>Read them after you understand CalendarApp and event-store.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411480" y="6236208"/>
            <a:ext cx="11064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Do not confuse "present in repo" with "active in the current runtime path."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4B"/>
                </a:solidFill>
              </a:rPr>
              <a:t>8. Important Lines Cheat Sheet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576B"/>
                </a:solidFill>
              </a:rPr>
              <a:t>The shortest list of code anchors to study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514600" cy="1554480"/>
          </a:xfrm>
          <a:prstGeom prst="roundRect">
            <a:avLst>
              <a:gd name="adj" fmla="val 3529"/>
            </a:avLst>
          </a:prstGeom>
          <a:solidFill>
            <a:srgbClr val="EAF4F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325880"/>
            <a:ext cx="2295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Create a task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1600200"/>
            <a:ext cx="2295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CalendarApp.tsx lines 201-246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EventDialog.tsx lines 72-88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pages/api/events.ts lines 24-37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event-store.ts lines 60-80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234440"/>
            <a:ext cx="2514600" cy="1554480"/>
          </a:xfrm>
          <a:prstGeom prst="roundRect">
            <a:avLst>
              <a:gd name="adj" fmla="val 3529"/>
            </a:avLst>
          </a:prstGeom>
          <a:solidFill>
            <a:srgbClr val="EAF8E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1325880"/>
            <a:ext cx="2295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Move by drag-drop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55848" y="1600200"/>
            <a:ext cx="2295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WeekView.tsx lines 164-169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DayView.tsx lines 135-140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CalendarApp.tsx lines 248-274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events/[id].ts PUT branch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89320" y="1234440"/>
            <a:ext cx="2514600" cy="1554480"/>
          </a:xfrm>
          <a:prstGeom prst="roundRect">
            <a:avLst>
              <a:gd name="adj" fmla="val 3529"/>
            </a:avLst>
          </a:prstGeom>
          <a:solidFill>
            <a:srgbClr val="FFF5D8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9048" y="1325880"/>
            <a:ext cx="2295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Copy from sidebar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9048" y="1600200"/>
            <a:ext cx="2295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Sidebar.tsx lines 223-232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CalendarApp.tsx lines 276-301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event-store.ts createEvent()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highlightEventId in Week/Day views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32520" y="1234440"/>
            <a:ext cx="2148840" cy="1554480"/>
          </a:xfrm>
          <a:prstGeom prst="roundRect">
            <a:avLst>
              <a:gd name="adj" fmla="val 3529"/>
            </a:avLst>
          </a:prstGeom>
          <a:solidFill>
            <a:srgbClr val="FCEBF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42248" y="1325880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Search and render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42248" y="160020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CalendarApp.tsx lines 317-323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WeekView.tsx getEventsForTimeSlot()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CalendarGrid.tsx getEventsForDate()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548"/>
                </a:solidFill>
              </a:rPr>
              <a:t>AgendaView.tsx sortedEvents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3246120"/>
            <a:ext cx="1005840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23548"/>
                </a:solidFill>
              </a:rPr>
              <a:t>If you only have ten minutes, study CalendarApp.tsx, EventDialog.tsx, pages/api/events.ts, pages/api/events/[id].ts, and lib/server/event-store.ts.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23548"/>
                </a:solidFill>
              </a:rPr>
              <a:t>Those files explain state ownership, request flow, persistence, and the new "task by default" behavior.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23548"/>
                </a:solidFill>
              </a:rPr>
              <a:t>Then read Sidebar.tsx to understand the pinned task copy pattern that makes this app feel more like a planner than a plain calendar.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11480" y="6236208"/>
            <a:ext cx="11064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This is the slide to screenshot if you want a fast study guide.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4B"/>
                </a:solidFill>
              </a:rPr>
              <a:t>9. Best Reading Order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80467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6576B"/>
                </a:solidFill>
              </a:rPr>
              <a:t>How to understand the repo without getting lost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5897880" cy="4846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23548"/>
                </a:solidFill>
              </a:rPr>
              <a:t>Step 1: Open pages/index.tsx or pages/week.tsx and notice they are only wrappers.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23548"/>
                </a:solidFill>
              </a:rPr>
              <a:t>Step 2: Open components/CalendarApp.tsx and read it top to bottom.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23548"/>
                </a:solidFill>
              </a:rPr>
              <a:t>Step 3: Trace handleSaveEvent into pages/api/events.ts and then lib/server/event-store.ts.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23548"/>
                </a:solidFill>
              </a:rPr>
              <a:t>Step 4: Trace handleCopyEvent and compare it with Sidebar drop behavior.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23548"/>
                </a:solidFill>
              </a:rPr>
              <a:t>Step 5: Read DayView.tsx before WeekView.tsx because it is smaller and easier.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23548"/>
                </a:solidFill>
              </a:rPr>
              <a:t>Step 6: Read CalendarGrid.tsx and AgendaView.tsx to understand the other two display modes.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23548"/>
                </a:solidFill>
              </a:rPr>
              <a:t>Step 7: Read EventDialog.tsx and NotificationCenter.tsx for the create form and reminders.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23548"/>
                </a:solidFill>
              </a:rPr>
              <a:t>Step 8: Read MongoDB, Prisma, and Firebase files last as future architecture context.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12280" y="1463040"/>
            <a:ext cx="4023360" cy="1645920"/>
          </a:xfrm>
          <a:prstGeom prst="roundRect">
            <a:avLst>
              <a:gd name="adj" fmla="val 3333"/>
            </a:avLst>
          </a:prstGeom>
          <a:solidFill>
            <a:srgbClr val="EAF4F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2008" y="1554480"/>
            <a:ext cx="3803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Questions to ask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2008" y="1828800"/>
            <a:ext cx="3803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548"/>
                </a:solidFill>
              </a:rPr>
              <a:t>Who owns this state?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548"/>
                </a:solidFill>
              </a:rPr>
              <a:t>Where does this prop come from?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548"/>
                </a:solidFill>
              </a:rPr>
              <a:t>Which API route saves this action?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548"/>
                </a:solidFill>
              </a:rPr>
              <a:t>Does this file render UI or store data?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12280" y="3657600"/>
            <a:ext cx="4023360" cy="1645920"/>
          </a:xfrm>
          <a:prstGeom prst="roundRect">
            <a:avLst>
              <a:gd name="adj" fmla="val 3333"/>
            </a:avLst>
          </a:prstGeom>
          <a:solidFill>
            <a:srgbClr val="EAF8EF"/>
          </a:solidFill>
          <a:ln w="12700">
            <a:solidFill>
              <a:srgbClr val="B8D0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22008" y="3749040"/>
            <a:ext cx="3803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324B"/>
                </a:solidFill>
              </a:rPr>
              <a:t>Main summary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2008" y="4023360"/>
            <a:ext cx="3803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548"/>
                </a:solidFill>
              </a:rPr>
              <a:t>This repo is easier than it first looks.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548"/>
                </a:solidFill>
              </a:rPr>
              <a:t>One main controller drives several focused renderers.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548"/>
                </a:solidFill>
              </a:rPr>
              <a:t>A thin API layer writes to one JSON file.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6236208"/>
            <a:ext cx="11064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Understand the active path first. Learn the optional scaffolding second.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Calendar App Code Explainer</dc:title>
  <dc:subject>Calendar app code walkthrough</dc:subject>
  <dc:creator>OpenAI Codex</dc:creator>
  <cp:lastModifiedBy>OpenAI Codex</cp:lastModifiedBy>
  <cp:revision>1</cp:revision>
  <dcterms:created xsi:type="dcterms:W3CDTF">2026-06-06T08:12:20Z</dcterms:created>
  <dcterms:modified xsi:type="dcterms:W3CDTF">2026-06-06T08:12:20Z</dcterms:modified>
</cp:coreProperties>
</file>